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11480"/>
            <a:ext cx="3017520" cy="384048"/>
          </a:xfrm>
          <a:prstGeom prst="round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SLIDE 1 ·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8FAFC"/>
                </a:solidFill>
              </a:defRPr>
            </a:pPr>
            <a:r>
              <a:t>When a Wind Turbine Goes Dark, How Much Energy Was Lost?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Turning missing blackout data into an auditable Business Interruption insurance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Goal: Accurate, transparent loss claims that any insurance adjuster can verify   |   72h Fleet Outage Loss: 283.9 MWh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401568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2999232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C"/>
                </a:solidFill>
              </a:defRPr>
            </a:pPr>
            <a:r>
              <a:t>1. The Grid Outage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Cable damage or grid faults disconnect the wind farm from the grid.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Turbines stop generating electricity and revenue drops to zero.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48840"/>
            <a:ext cx="3401568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313432"/>
            <a:ext cx="2999232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C"/>
                </a:solidFill>
              </a:defRPr>
            </a:pPr>
            <a:r>
              <a:t>2. The Sensor Blind Spot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Normally, we calculate lost energy using the turbine's own wind sensor.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During a complete blackout, that wind sensor is offline too (missing NaN data).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148840"/>
            <a:ext cx="3401568" cy="3429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2313432"/>
            <a:ext cx="2999232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8BDF8"/>
                </a:solidFill>
              </a:defRPr>
            </a:pPr>
            <a:r>
              <a:t>3. Our Automated Solution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Learn how neighbouring wind parks (Park O &amp; Park H) relate to our turbine before the outage.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Reconstruct the missing wind speeds and calculate lost MWh through the power curve.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11480"/>
            <a:ext cx="3017520" cy="384048"/>
          </a:xfrm>
          <a:prstGeom prst="round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SLIDE 2 · EXPLAINABLE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8FAFC"/>
                </a:solidFill>
              </a:defRPr>
            </a:pPr>
            <a:r>
              <a:t>Why Our Model Is Simple, Physical &amp; 100% Explainable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Prioritizing explainability — one clean equation per turbine instead of a black 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Formula Structure:  v_Target = w0 + w_O · Speed(Park O) + w_H · Speed(Park H) + Direction (u, v)   |   100% Transparent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401568" cy="3429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2999232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8BDF8"/>
                </a:solidFill>
              </a:defRPr>
            </a:pPr>
            <a:r>
              <a:t>One Readable Equation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Uses Bayesian Ridge Regression.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Every turbine gets a single linear formula you can verify on a calculator.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Zero hidden layers or opaque decision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48840"/>
            <a:ext cx="3401568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313432"/>
            <a:ext cx="2999232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C"/>
                </a:solidFill>
              </a:defRPr>
            </a:pPr>
            <a:r>
              <a:t>Why Aggregate into Parks?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Turbines in the same park (O1–O2 or H1–H5) feel &gt;96% identical wind.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Separate turbine weights fight each other and create fake negative numbers.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Park medians give clean ~40% / ~40% weights and survive single-sensor dropouts.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148840"/>
            <a:ext cx="3401568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2313432"/>
            <a:ext cx="2999232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C"/>
                </a:solidFill>
              </a:defRPr>
            </a:pPr>
            <a:r>
              <a:t>Better Than Other Models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vs. LightGBM (450 Trees): Black box that fails seasonal shifts (-20% error) and cannot be audited.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vs. Raw OLS Regression: Suffers from unphysical negative weights.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Explainability is key for insurance sign-off.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11480"/>
            <a:ext cx="3017520" cy="384048"/>
          </a:xfrm>
          <a:prstGeom prst="round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SLIDE 3 · NATIVE UNCERTAINTY QUANTIFICATION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8FAFC"/>
                </a:solidFill>
              </a:defRPr>
            </a:pPr>
            <a:r>
              <a:t>Native Bayesian Uncertainty: Two Bands, Zero Crossing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Uncertainty comes directly from Bayesian probability math — not ad-hoc quantile trees.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T1 Outage Example: Central P50 = 75.3 MWh  ·  95% Formula CI = 73.3–77.4 MWh  ·  80% Gust Band = 26.8–154.8 MWh   |   Calibrated at 82.7%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230368" cy="3429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4828031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8BDF8"/>
                </a:solidFill>
              </a:defRPr>
            </a:pPr>
            <a:r>
              <a:t>Why Native Bayesian Beats Quantile Models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Quantile Models (LightGBM): Train 3 separate black boxes (P10, P50, P90). Because they don't share math, curves can cross (P10 &gt; P50).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Native Bayesian Ridge: Outputs a complete Gaussian bell curve (mean μ &amp; spread σ) at every 10-minute step.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Guaranteed Consistency: Any percentile (50%–99% slider in our app) is smooth and mathematically cannot cross.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230368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313432"/>
            <a:ext cx="4828031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C"/>
                </a:solidFill>
              </a:defRPr>
            </a:pPr>
            <a:r>
              <a:t>Two Uncertainties Separated Automatically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1. 95% Coefficient CI (Dark Inner Band — ±2.0 MWh): 'How sure are we about our formula?' Pinpointed tightly by 12,400+ training intervals.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2. 80% Predictive Band P10–P90 (Light Outer Band): 'How gusty is a single 10-minute step?'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Over a 3-day outage, random 10-minute wind gusts cancel out — so true energy stays close to P50.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11480"/>
            <a:ext cx="3017520" cy="384048"/>
          </a:xfrm>
          <a:prstGeom prst="round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SLIDE 4 · CROSS-VALIDATED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8FAFC"/>
                </a:solidFill>
              </a:defRPr>
            </a:pPr>
            <a:r>
              <a:t>Robust Accuracy via 5-Fold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Tested across all 86 operational days (12,421 intervals) without permanently withholding training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Why Background 5-Fold CV? Tests every time block out-of-sample while the final model trains on 100% of history   |   Zero Data Wasted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401568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2999232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C"/>
                </a:solidFill>
              </a:defRPr>
            </a:pPr>
            <a:r>
              <a:t>Turbine T1 (5-Fold CV)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Wind Speed MAE:  0.990 m/s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Wind Speed RMSE: 1.338 m/s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Power MAE:       492.6 kW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80% Band Coverage: 82.4%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5-Fold Energy Error: -12.78%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72h Outage Loss: 75.32 MWh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48840"/>
            <a:ext cx="3401568" cy="3429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313432"/>
            <a:ext cx="2999232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8BDF8"/>
                </a:solidFill>
              </a:defRPr>
            </a:pPr>
            <a:r>
              <a:t>Turbine T2 (5-Fold CV)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Wind Speed MAE:  0.880 m/s (Best)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Wind Speed RMSE: 1.182 m/s (Best)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Power MAE:       453.4 kW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80% Band Coverage: 82.8%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5-Fold Energy Error: -8.77%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72h Outage Loss: 117.16 MWh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148840"/>
            <a:ext cx="3401568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2313432"/>
            <a:ext cx="2999232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C"/>
                </a:solidFill>
              </a:defRPr>
            </a:pPr>
            <a:r>
              <a:t>Turbine T3 (5-Fold CV)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Wind Speed MAE:  0.893 m/s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Wind Speed RMSE: 1.194 m/s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Power MAE:       440.2 kW (Best)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80% Band Coverage: 83.0%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5-Fold Energy Error: -11.35%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72h Outage Loss: 91.46 MWh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11480"/>
            <a:ext cx="3017520" cy="384048"/>
          </a:xfrm>
          <a:prstGeom prst="round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SLIDE 5 · PHYSICS &amp; BONUS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8FAFC"/>
                </a:solidFill>
              </a:defRPr>
            </a:pPr>
            <a:r>
              <a:t>Physics Addons &amp; All 3 Bonus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Going beyond wind speed with atmospheric physics, smart filtering, and instant claim emails.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Live Demo: Interactive Streamlit App with plain-English '?' guides, manual calendars &amp; 10-min certainty explorer   |   BayWa r.e. 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401568" cy="3429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2999232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8BDF8"/>
                </a:solidFill>
              </a:defRPr>
            </a:pPr>
            <a:r>
              <a:t>1. Direction &amp; Air Density Physics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Wind Vectors (u, v): Fixes the 359° ↔ 1° compass jump and captures hill &amp; wake sheltering.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IEC 61400-12-1 Air Density: Uses live Temperature &amp; Pressure from Park H (97.9% regional match) to adjust blade push for thin warm vs. dense cold air.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48840"/>
            <a:ext cx="3401568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313432"/>
            <a:ext cx="2999232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C"/>
                </a:solidFill>
              </a:defRPr>
            </a:pPr>
            <a:r>
              <a:t>2. Auto Reference Selection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Automatically scans all uploaded reference files (O1–O2, H1–H5).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Detects and removes any reference turbine that is offline during the outage.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Ranks references by correlation and shared training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148840"/>
            <a:ext cx="3401568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2313432"/>
            <a:ext cx="2999232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C"/>
                </a:solidFill>
              </a:defRPr>
            </a:pPr>
            <a:r>
              <a:t>3. One-Click Insurance Claim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Generates a clean claim notice with only relevant data: outage times, reference turbines, Estimated MWh, and 5-Fold CV proof.</a:t>
            </a:r>
          </a:p>
          <a:p>
            <a:pPr>
              <a:spcAft>
                <a:spcPts val="700"/>
              </a:spcAft>
              <a:defRPr sz="1450">
                <a:solidFill>
                  <a:srgbClr val="CBD5E1"/>
                </a:solidFill>
              </a:defRPr>
            </a:pPr>
            <a:r>
              <a:t>•  Includes an 'Open in Default Mail App' button that launches your email client pre-filled.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